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Golos Text"/>
      <p:regular r:id="rId12"/>
      <p:bold r:id="rId13"/>
    </p:embeddedFont>
    <p:embeddedFont>
      <p:font typeface="Inter"/>
      <p:regular r:id="rId14"/>
      <p:bold r:id="rId15"/>
      <p:italic r:id="rId16"/>
      <p:boldItalic r:id="rId17"/>
    </p:embeddedFont>
    <p:embeddedFont>
      <p:font typeface="Golos Text SemiBo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7QRGWA52iJWbZqK3ABw6h3qAs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GolosText-bold.fntdata"/><Relationship Id="rId12" Type="http://schemas.openxmlformats.org/officeDocument/2006/relationships/font" Target="fonts/GolosTex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" Target="slides/slide1.xml"/><Relationship Id="rId19" Type="http://schemas.openxmlformats.org/officeDocument/2006/relationships/font" Target="fonts/GolosTextSemiBold-bold.fntdata"/><Relationship Id="rId6" Type="http://schemas.openxmlformats.org/officeDocument/2006/relationships/slide" Target="slides/slide2.xml"/><Relationship Id="rId18" Type="http://schemas.openxmlformats.org/officeDocument/2006/relationships/font" Target="fonts/GolosText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26da266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526da266f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26da266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526da266f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526da266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526da266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26da26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526da266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olos Text"/>
              <a:buNone/>
              <a:defRPr sz="60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olos Text SemiBold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los Text SemiBold"/>
              <a:buNone/>
              <a:defRPr b="1" i="0" sz="44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Wqlimt6q5PH8dDJep13NJLUsOJdnSjtin5PaeVfMPqE/edit?usp=drive_lin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75430"/>
            <a:ext cx="848531" cy="19355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0" y="3923818"/>
            <a:ext cx="12191999" cy="3035401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4327" y="1362850"/>
            <a:ext cx="3427673" cy="48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>
            <p:ph type="ctrTitle"/>
          </p:nvPr>
        </p:nvSpPr>
        <p:spPr>
          <a:xfrm>
            <a:off x="676451" y="3923825"/>
            <a:ext cx="105807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"/>
              <a:buNone/>
            </a:pPr>
            <a:r>
              <a:rPr lang="ru-RU" sz="4800">
                <a:solidFill>
                  <a:schemeClr val="lt1"/>
                </a:solidFill>
              </a:rPr>
              <a:t>Дисциплина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"/>
              <a:buNone/>
            </a:pPr>
            <a:r>
              <a:rPr lang="ru-RU" sz="4800">
                <a:solidFill>
                  <a:schemeClr val="lt1"/>
                </a:solidFill>
              </a:rPr>
              <a:t>"Введение в компьютерное зрение"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676443" y="6116881"/>
            <a:ext cx="9144000" cy="658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>
                <a:solidFill>
                  <a:schemeClr val="lt1"/>
                </a:solidFill>
              </a:rPr>
              <a:t>Команда №45</a:t>
            </a:r>
            <a:endParaRPr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443" y="386289"/>
            <a:ext cx="5322298" cy="329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3323" y="391785"/>
            <a:ext cx="1692234" cy="32989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76443" y="3010968"/>
            <a:ext cx="9144000" cy="908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rgbClr val="014189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</a:t>
            </a:r>
            <a:br>
              <a:rPr b="1" i="0" lang="ru-RU" sz="2400" u="none" cap="none" strike="noStrike">
                <a:solidFill>
                  <a:srgbClr val="014189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1" i="0" lang="ru-RU" sz="2400" u="none" cap="none" strike="noStrike">
                <a:solidFill>
                  <a:srgbClr val="014189"/>
                </a:solidFill>
                <a:latin typeface="Golos Text"/>
                <a:ea typeface="Golos Text"/>
                <a:cs typeface="Golos Text"/>
                <a:sym typeface="Golos Text"/>
              </a:rPr>
              <a:t>на топ-уровне: системное видение</a:t>
            </a:r>
            <a:endParaRPr b="1" i="0" sz="2400" u="none" cap="none" strike="noStrike">
              <a:solidFill>
                <a:srgbClr val="014189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22742" y="182825"/>
            <a:ext cx="10515600" cy="362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383925" y="1116825"/>
            <a:ext cx="1051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/>
              <a:t>Целью дисциплины</a:t>
            </a:r>
            <a:r>
              <a:rPr lang="ru-RU" sz="2100"/>
              <a:t> является формирование у студентов системного понимания пайплайна компьютерного зрения - от постановки задачи и работы с данными до обучения моделей и оценки их качества - с учетом ролевой специализации ML Engineer и Data Analyst.</a:t>
            </a:r>
            <a:endParaRPr sz="2100"/>
          </a:p>
        </p:txBody>
      </p:sp>
      <p:sp>
        <p:nvSpPr>
          <p:cNvPr id="99" name="Google Shape;99;p2"/>
          <p:cNvSpPr txBox="1"/>
          <p:nvPr/>
        </p:nvSpPr>
        <p:spPr>
          <a:xfrm>
            <a:off x="471150" y="3280675"/>
            <a:ext cx="10515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/>
              <a:t>Чему учим</a:t>
            </a:r>
            <a:r>
              <a:rPr lang="ru-RU" sz="1800"/>
              <a:t>: Математическим и алгоритмическим основам компьютерного зрения, методам глубокого обучения, работе с библиотеками OpenCV/PyTorch, технологиям детекции, трекинга и сегментации.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/>
              <a:t>Зачем учим:</a:t>
            </a:r>
            <a:r>
              <a:rPr lang="ru-RU" sz="1800"/>
              <a:t> Чтобы выпускник мог разрабатывать интеллектуальные системы, способные «понимать» визуальный мир - от систем видеонаблюдения и промышленного контроля до интерфейсов «человек-машина» и автономной навигации роботов.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26da266f_0_9"/>
          <p:cNvSpPr/>
          <p:nvPr/>
        </p:nvSpPr>
        <p:spPr>
          <a:xfrm>
            <a:off x="0" y="1"/>
            <a:ext cx="12192000" cy="681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526da266f_0_9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06" name="Google Shape;106;g3f526da266f_0_9"/>
          <p:cNvSpPr txBox="1"/>
          <p:nvPr/>
        </p:nvSpPr>
        <p:spPr>
          <a:xfrm>
            <a:off x="383925" y="1116825"/>
            <a:ext cx="1051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/>
              <a:t>Задачи дисциплины</a:t>
            </a:r>
            <a:endParaRPr sz="2100"/>
          </a:p>
        </p:txBody>
      </p:sp>
      <p:sp>
        <p:nvSpPr>
          <p:cNvPr id="107" name="Google Shape;107;g3f526da266f_0_9"/>
          <p:cNvSpPr txBox="1"/>
          <p:nvPr/>
        </p:nvSpPr>
        <p:spPr>
          <a:xfrm>
            <a:off x="488600" y="1779925"/>
            <a:ext cx="10515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1800"/>
              <a:t>Первая задача - </a:t>
            </a:r>
            <a:r>
              <a:rPr b="1" lang="ru-RU" sz="1800"/>
              <a:t>теоретическая</a:t>
            </a:r>
            <a:r>
              <a:rPr lang="ru-RU" sz="1800"/>
              <a:t>. Студенты должны освоить базовые концепции компьютерного зрения: принципы работы сверточных нейронных сетей, современные архитектуры (ResNet, EfficientNet), методы дообучения (Transfer Learning) и подходы к детекции объектов (YOLO).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1800"/>
              <a:t>Вторая задача - </a:t>
            </a:r>
            <a:r>
              <a:rPr b="1" lang="ru-RU" sz="1800"/>
              <a:t>практическая</a:t>
            </a:r>
            <a:r>
              <a:rPr lang="ru-RU" sz="1800"/>
              <a:t>. Студенты должны научиться работать с инструментами компьютерного зрения: библиотеками OpenCV, PyTorch, Albumentations. Они должны освоить навыки дообучения предобученных моделей под конкретные прикладные задачи.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1800"/>
              <a:t>Третья задача - </a:t>
            </a:r>
            <a:r>
              <a:rPr b="1" lang="ru-RU" sz="1800"/>
              <a:t>аналитическая</a:t>
            </a:r>
            <a:r>
              <a:rPr lang="ru-RU" sz="1800"/>
              <a:t>. Студенты должны освоить методы оценки качества моделей (метрики классификации и детекции, анализ ошибок) и работы с данными (разведочный анализ, разметка, аугментация).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1800"/>
              <a:t>Четвертая задача - </a:t>
            </a:r>
            <a:r>
              <a:rPr b="1" lang="ru-RU" sz="1800"/>
              <a:t>универсальная</a:t>
            </a:r>
            <a:r>
              <a:rPr lang="ru-RU" sz="1800"/>
              <a:t>. Студенты должны сформировать навыки командной работы, этической рефлексии при применении компьютерного зрения и представления результатов для разных аудиторий.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526da266f_0_38"/>
          <p:cNvSpPr/>
          <p:nvPr/>
        </p:nvSpPr>
        <p:spPr>
          <a:xfrm>
            <a:off x="0" y="1"/>
            <a:ext cx="12192000" cy="681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526da266f_0_38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4" name="Google Shape;114;g3f526da266f_0_38"/>
          <p:cNvSpPr txBox="1"/>
          <p:nvPr/>
        </p:nvSpPr>
        <p:spPr>
          <a:xfrm>
            <a:off x="383925" y="1116825"/>
            <a:ext cx="1051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/>
              <a:t>Главный раздел РПД</a:t>
            </a:r>
            <a:endParaRPr sz="2100"/>
          </a:p>
        </p:txBody>
      </p:sp>
      <p:sp>
        <p:nvSpPr>
          <p:cNvPr id="115" name="Google Shape;115;g3f526da266f_0_38"/>
          <p:cNvSpPr txBox="1"/>
          <p:nvPr/>
        </p:nvSpPr>
        <p:spPr>
          <a:xfrm>
            <a:off x="488600" y="1779925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u="sng">
                <a:solidFill>
                  <a:schemeClr val="hlink"/>
                </a:solidFill>
                <a:hlinkClick r:id="rId3"/>
              </a:rPr>
              <a:t>https://docs.google.com/spreadsheets/d/1Wqlimt6q5PH8dDJep13NJLUsOJdnSjtin5PaeVfMPqE/edit?usp=drive_link</a:t>
            </a:r>
            <a:endParaRPr sz="1800"/>
          </a:p>
        </p:txBody>
      </p:sp>
      <p:sp>
        <p:nvSpPr>
          <p:cNvPr id="116" name="Google Shape;116;g3f526da266f_0_38"/>
          <p:cNvSpPr txBox="1"/>
          <p:nvPr/>
        </p:nvSpPr>
        <p:spPr>
          <a:xfrm>
            <a:off x="1938300" y="3132375"/>
            <a:ext cx="694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rgbClr val="595959"/>
                </a:solidFill>
              </a:rPr>
              <a:t>Виды компетенций</a:t>
            </a:r>
            <a:endParaRPr b="1" sz="1800">
              <a:solidFill>
                <a:srgbClr val="595959"/>
              </a:solidFill>
            </a:endParaRPr>
          </a:p>
        </p:txBody>
      </p:sp>
      <p:sp>
        <p:nvSpPr>
          <p:cNvPr id="117" name="Google Shape;117;g3f526da266f_0_38"/>
          <p:cNvSpPr txBox="1"/>
          <p:nvPr/>
        </p:nvSpPr>
        <p:spPr>
          <a:xfrm>
            <a:off x="1938300" y="3594075"/>
            <a:ext cx="58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Всего в дисциплине: 9 компетенций, 14 индикаторов</a:t>
            </a:r>
            <a:endParaRPr/>
          </a:p>
        </p:txBody>
      </p:sp>
      <p:sp>
        <p:nvSpPr>
          <p:cNvPr id="118" name="Google Shape;118;g3f526da266f_0_38"/>
          <p:cNvSpPr txBox="1"/>
          <p:nvPr/>
        </p:nvSpPr>
        <p:spPr>
          <a:xfrm>
            <a:off x="2016825" y="4242900"/>
            <a:ext cx="3311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4A86E8"/>
                </a:solidFill>
              </a:rPr>
              <a:t>ПРОФЕССИОНАЛЬНЫЕ (инструментальные)</a:t>
            </a:r>
            <a:r>
              <a:rPr lang="ru-RU"/>
              <a:t> - 7 / 12 индикаторов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DL-3 (CV) │ DL-1 (архитектуры) │ </a:t>
            </a:r>
            <a:r>
              <a:rPr lang="ru-RU">
                <a:solidFill>
                  <a:srgbClr val="000000"/>
                </a:solidFill>
              </a:rPr>
              <a:t>MF-1 (математика) | </a:t>
            </a:r>
            <a:r>
              <a:rPr lang="ru-RU"/>
              <a:t>MF-3 (оптимизация) │  BD-2 (данные) │ PL-1 (Python) | ML-2 (основы ML)</a:t>
            </a:r>
            <a:endParaRPr/>
          </a:p>
        </p:txBody>
      </p:sp>
      <p:sp>
        <p:nvSpPr>
          <p:cNvPr id="119" name="Google Shape;119;g3f526da266f_0_38"/>
          <p:cNvSpPr txBox="1"/>
          <p:nvPr/>
        </p:nvSpPr>
        <p:spPr>
          <a:xfrm>
            <a:off x="6453550" y="4242900"/>
            <a:ext cx="3389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6AA84F"/>
                </a:solidFill>
              </a:rPr>
              <a:t>УНИВЕРСАЛЬНЫЕ</a:t>
            </a:r>
            <a:r>
              <a:rPr lang="ru-RU"/>
              <a:t> (надпрофессиональные) - 2 / 2 индикатора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SS-1 (этика) │ SS-2 (команда)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26da266f_0_24"/>
          <p:cNvSpPr/>
          <p:nvPr/>
        </p:nvSpPr>
        <p:spPr>
          <a:xfrm>
            <a:off x="0" y="1"/>
            <a:ext cx="12192000" cy="681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526da266f_0_24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26" name="Google Shape;126;g3f526da266f_0_24"/>
          <p:cNvSpPr txBox="1"/>
          <p:nvPr/>
        </p:nvSpPr>
        <p:spPr>
          <a:xfrm>
            <a:off x="383925" y="1116825"/>
            <a:ext cx="1051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/>
              <a:t>Пререквизиты и постреквизиты (</a:t>
            </a:r>
            <a:r>
              <a:rPr b="1" lang="ru-RU" sz="1500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rPr>
              <a:t>Место дисциплины в образовательной программе)</a:t>
            </a:r>
            <a:endParaRPr sz="2100"/>
          </a:p>
        </p:txBody>
      </p:sp>
      <p:sp>
        <p:nvSpPr>
          <p:cNvPr id="127" name="Google Shape;127;g3f526da266f_0_24"/>
          <p:cNvSpPr/>
          <p:nvPr/>
        </p:nvSpPr>
        <p:spPr>
          <a:xfrm>
            <a:off x="1533725" y="2321006"/>
            <a:ext cx="2774700" cy="3350400"/>
          </a:xfrm>
          <a:prstGeom prst="rect">
            <a:avLst/>
          </a:prstGeom>
          <a:solidFill>
            <a:srgbClr val="EEFF4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526da266f_0_24"/>
          <p:cNvSpPr/>
          <p:nvPr/>
        </p:nvSpPr>
        <p:spPr>
          <a:xfrm>
            <a:off x="7069931" y="2321006"/>
            <a:ext cx="3027000" cy="33504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526da266f_0_24"/>
          <p:cNvSpPr txBox="1"/>
          <p:nvPr/>
        </p:nvSpPr>
        <p:spPr>
          <a:xfrm>
            <a:off x="1611125" y="2395406"/>
            <a:ext cx="2697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ПРЕРЕКВИЗИТЫ (входные требования)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000000"/>
                </a:solidFill>
              </a:rPr>
              <a:t>MF-1 (математические основы: теория вероятностей, математическая статистика, линейная алгебра)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ML-2 (Основы ML)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PL-1 (Python)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526da266f_0_24"/>
          <p:cNvSpPr/>
          <p:nvPr/>
        </p:nvSpPr>
        <p:spPr>
          <a:xfrm>
            <a:off x="4530953" y="2324193"/>
            <a:ext cx="2368800" cy="23805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526da266f_0_24"/>
          <p:cNvSpPr txBox="1"/>
          <p:nvPr/>
        </p:nvSpPr>
        <p:spPr>
          <a:xfrm>
            <a:off x="7096106" y="2395406"/>
            <a:ext cx="3027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ПОСТРЕКВИЗИТЫ (выходные компетенции)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DL-1.3 (архитектуры глубоких нейронных сетей, включая трансформеры для CV)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LC-5 (MLOps, промышленная разработка и развертывание моделей), BD-3 и BD-4 (хранение и обработка больших данных), LC-3 (проектирование систем искусственного интеллекта), SS-3 (системное и критическое мышление)</a:t>
            </a:r>
            <a:endParaRPr/>
          </a:p>
        </p:txBody>
      </p:sp>
      <p:sp>
        <p:nvSpPr>
          <p:cNvPr id="132" name="Google Shape;132;g3f526da266f_0_24"/>
          <p:cNvSpPr txBox="1"/>
          <p:nvPr/>
        </p:nvSpPr>
        <p:spPr>
          <a:xfrm>
            <a:off x="4695166" y="2395406"/>
            <a:ext cx="2160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НАША ДИСЦИПЛИНА: "Введение в компьютерное зрение"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526da266f_0_24"/>
          <p:cNvSpPr/>
          <p:nvPr/>
        </p:nvSpPr>
        <p:spPr>
          <a:xfrm>
            <a:off x="4890803" y="4858681"/>
            <a:ext cx="1649100" cy="4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890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26da266f_0_16"/>
          <p:cNvSpPr/>
          <p:nvPr/>
        </p:nvSpPr>
        <p:spPr>
          <a:xfrm>
            <a:off x="0" y="1"/>
            <a:ext cx="12192000" cy="681000"/>
          </a:xfrm>
          <a:prstGeom prst="rect">
            <a:avLst/>
          </a:prstGeom>
          <a:solidFill>
            <a:srgbClr val="01418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526da266f_0_16"/>
          <p:cNvSpPr txBox="1"/>
          <p:nvPr/>
        </p:nvSpPr>
        <p:spPr>
          <a:xfrm>
            <a:off x="722742" y="182825"/>
            <a:ext cx="10515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Преподавание современного ИИ на топ-уровне: системное видение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0" name="Google Shape;140;g3f526da266f_0_16"/>
          <p:cNvSpPr txBox="1"/>
          <p:nvPr/>
        </p:nvSpPr>
        <p:spPr>
          <a:xfrm>
            <a:off x="383925" y="1116825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solidFill>
                  <a:srgbClr val="595959"/>
                </a:solidFill>
              </a:rPr>
              <a:t>Система оценки и формы контроля</a:t>
            </a:r>
            <a:endParaRPr sz="2100"/>
          </a:p>
        </p:txBody>
      </p:sp>
      <p:sp>
        <p:nvSpPr>
          <p:cNvPr id="141" name="Google Shape;141;g3f526da266f_0_16"/>
          <p:cNvSpPr txBox="1"/>
          <p:nvPr/>
        </p:nvSpPr>
        <p:spPr>
          <a:xfrm>
            <a:off x="1413800" y="1844650"/>
            <a:ext cx="694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rPr>
              <a:t>В дисциплине используются текущий и итоговый контроль.</a:t>
            </a:r>
            <a:endParaRPr b="1" sz="1800">
              <a:solidFill>
                <a:srgbClr val="595959"/>
              </a:solidFill>
            </a:endParaRPr>
          </a:p>
        </p:txBody>
      </p:sp>
      <p:sp>
        <p:nvSpPr>
          <p:cNvPr id="142" name="Google Shape;142;g3f526da266f_0_16"/>
          <p:cNvSpPr txBox="1"/>
          <p:nvPr/>
        </p:nvSpPr>
        <p:spPr>
          <a:xfrm>
            <a:off x="1478050" y="2587925"/>
            <a:ext cx="6519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Текущий контроль</a:t>
            </a:r>
            <a:r>
              <a:rPr lang="ru-RU"/>
              <a:t> включает четыре формы.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1. </a:t>
            </a:r>
            <a:r>
              <a:rPr lang="ru-RU">
                <a:solidFill>
                  <a:srgbClr val="000000"/>
                </a:solidFill>
              </a:rPr>
              <a:t>Лабораторные работы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000000"/>
                </a:solidFill>
              </a:rPr>
              <a:t>2. Тесты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000000"/>
                </a:solidFill>
              </a:rPr>
              <a:t>3. Проектная работа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000000"/>
                </a:solidFill>
              </a:rPr>
              <a:t>4. Эссе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3" name="Google Shape;143;g3f526da266f_0_16"/>
          <p:cNvSpPr txBox="1"/>
          <p:nvPr/>
        </p:nvSpPr>
        <p:spPr>
          <a:xfrm>
            <a:off x="1478050" y="5284025"/>
            <a:ext cx="6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/>
              <a:t>Итоговый контроль</a:t>
            </a:r>
            <a:r>
              <a:rPr lang="ru-RU"/>
              <a:t> представлен экзаменом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36173"/>
            <a:ext cx="848531" cy="1935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1175" y="1531743"/>
            <a:ext cx="3950825" cy="554262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>
            <p:ph type="ctrTitle"/>
          </p:nvPr>
        </p:nvSpPr>
        <p:spPr>
          <a:xfrm>
            <a:off x="676443" y="1867175"/>
            <a:ext cx="9144000" cy="17147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ct val="100000"/>
              <a:buFont typeface="Golos Text"/>
              <a:buNone/>
            </a:pPr>
            <a:r>
              <a:rPr lang="ru-RU">
                <a:solidFill>
                  <a:srgbClr val="014189"/>
                </a:solidFill>
              </a:rPr>
              <a:t>Спасибо</a:t>
            </a:r>
            <a:br>
              <a:rPr lang="ru-RU">
                <a:solidFill>
                  <a:srgbClr val="014189"/>
                </a:solidFill>
              </a:rPr>
            </a:br>
            <a:r>
              <a:rPr lang="ru-RU">
                <a:solidFill>
                  <a:srgbClr val="014189"/>
                </a:solidFill>
              </a:rPr>
              <a:t>за внимание!</a:t>
            </a:r>
            <a:endParaRPr/>
          </a:p>
        </p:txBody>
      </p:sp>
      <p:sp>
        <p:nvSpPr>
          <p:cNvPr id="151" name="Google Shape;151;p5"/>
          <p:cNvSpPr txBox="1"/>
          <p:nvPr>
            <p:ph idx="1" type="subTitle"/>
          </p:nvPr>
        </p:nvSpPr>
        <p:spPr>
          <a:xfrm>
            <a:off x="676443" y="3822096"/>
            <a:ext cx="9144000" cy="658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89"/>
              </a:buClr>
              <a:buSzPts val="2000"/>
              <a:buNone/>
            </a:pPr>
            <a:r>
              <a:rPr lang="ru-RU" sz="2000">
                <a:solidFill>
                  <a:srgbClr val="014189"/>
                </a:solidFill>
              </a:rPr>
              <a:t>Контакт</a:t>
            </a:r>
            <a:endParaRPr/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443" y="386289"/>
            <a:ext cx="5322298" cy="329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3323" y="391785"/>
            <a:ext cx="1692234" cy="329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2026-06-15T11:15:35Z</dcterms:created>
  <dc:creator>Будуева Ольга Олеговна</dc:creator>
</cp:coreProperties>
</file>